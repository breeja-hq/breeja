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01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113282"/>
            <a:ext cx="8778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200" b="1">
                <a:solidFill>
                  <a:srgbClr val="0A0A0A"/>
                </a:solidFill>
                <a:latin typeface="Geist"/>
              </a:rPr>
              <a:t>Money that</a:t>
            </a:r>
            <a:endParaRPr sz="6200" b="1">
              <a:solidFill>
                <a:srgbClr val="0A0A0A"/>
              </a:solidFill>
              <a:latin typeface="Geist"/>
            </a:endParaRPr>
          </a:p>
          <a:p>
            <a:pPr algn="l">
              <a:lnSpc>
                <a:spcPct val="90000"/>
              </a:lnSpc>
            </a:pPr>
            <a:r>
              <a:rPr sz="6200" b="1">
                <a:solidFill>
                  <a:srgbClr val="0A0A0A"/>
                </a:solidFill>
                <a:latin typeface="Geist"/>
              </a:rPr>
              <a:t>moves like</a:t>
            </a:r>
            <a:endParaRPr sz="6200" b="1">
              <a:solidFill>
                <a:srgbClr val="0A0A0A"/>
              </a:solidFill>
              <a:latin typeface="Geist"/>
            </a:endParaRPr>
          </a:p>
          <a:p>
            <a:pPr algn="l">
              <a:lnSpc>
                <a:spcPct val="90000"/>
              </a:lnSpc>
            </a:pPr>
            <a:r>
              <a:rPr sz="6200" b="1">
                <a:solidFill>
                  <a:srgbClr val="0A0A0A"/>
                </a:solidFill>
                <a:latin typeface="Geist"/>
              </a:rPr>
              <a:t>an API call.</a:t>
            </a:r>
            <a:endParaRPr sz="62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4087368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A0A0A"/>
                </a:solidFill>
                <a:latin typeface="Geist"/>
              </a:rPr>
              <a:t>Cross-chain stablecoin settlement for agents and humans. Gasless, multi-route, one call.</a:t>
            </a:r>
            <a:endParaRPr sz="19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5367528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687568"/>
            <a:ext cx="2327148" cy="3840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41848"/>
            <a:ext cx="2327148" cy="3840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0A0A0A"/>
                </a:solidFill>
                <a:latin typeface="Geist Mono"/>
              </a:rPr>
              <a:t>ETHGlobal Online 2026</a:t>
            </a:r>
            <a:endParaRPr sz="1100" b="1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67812" y="5687568"/>
            <a:ext cx="1078992" cy="3840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22092" y="5641848"/>
            <a:ext cx="1078992" cy="3840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0A0A0A"/>
                </a:solidFill>
                <a:latin typeface="Geist Mono"/>
              </a:rPr>
              <a:t>6 chains</a:t>
            </a:r>
            <a:endParaRPr sz="1100" b="1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74820" y="5687568"/>
            <a:ext cx="1847088" cy="3840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9100" y="5641848"/>
            <a:ext cx="1847088" cy="3840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0A0A0A"/>
                </a:solidFill>
                <a:latin typeface="Geist Mono"/>
              </a:rPr>
              <a:t>SDK · MCP · x402</a:t>
            </a:r>
            <a:endParaRPr sz="1100" b="1">
              <a:solidFill>
                <a:srgbClr val="0A0A0A"/>
              </a:solidFill>
              <a:latin typeface="Geist Mono"/>
            </a:endParaRPr>
          </a:p>
        </p:txBody>
      </p:sp>
      <p:pic>
        <p:nvPicPr>
          <p:cNvPr id="18" name="Picture 17" descr="breeja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425" y="863600"/>
            <a:ext cx="4121150" cy="4121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02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THE PROBLEM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Agents can think. They can't pay.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7280"/>
                </a:solidFill>
                <a:latin typeface="Geist"/>
              </a:rPr>
              <a:t>An AI agent that owes another agent $5 for an API call has no way to settle it across chains. Neither does a person holding USDC on the wrong network.</a:t>
            </a:r>
            <a:endParaRPr sz="16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11057839" cy="1042415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88920"/>
            <a:ext cx="566928" cy="1042415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Geist Mono"/>
              </a:rPr>
              <a:t>01</a:t>
            </a:r>
            <a:endParaRPr sz="12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08176" y="299008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A0A0A"/>
                </a:solidFill>
                <a:latin typeface="Geist"/>
              </a:rPr>
              <a:t>Gas is a dead end</a:t>
            </a:r>
            <a:endParaRPr sz="16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8176" y="331927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You need the native token of a chain you've never touched, before you can move the stablecoin you already hold.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3831335"/>
            <a:ext cx="11057839" cy="1042415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831335"/>
            <a:ext cx="566928" cy="1042415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Geist Mono"/>
              </a:rPr>
              <a:t>02</a:t>
            </a:r>
            <a:endParaRPr sz="12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8176" y="4032503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A0A0A"/>
                </a:solidFill>
                <a:latin typeface="Geist"/>
              </a:rPr>
              <a:t>Bridges assume a browser</a:t>
            </a:r>
            <a:endParaRPr sz="16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08176" y="4361687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Connect wallet, approve, sign, wait. There is no programmatic path for software that has no hands.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4873750"/>
            <a:ext cx="11057839" cy="1042415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873750"/>
            <a:ext cx="566928" cy="1042415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Geist Mono"/>
              </a:rPr>
              <a:t>03</a:t>
            </a:r>
            <a:endParaRPr sz="12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8176" y="507491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A0A0A"/>
                </a:solidFill>
                <a:latin typeface="Geist"/>
              </a:rPr>
              <a:t>Bridges assume you pay yourself</a:t>
            </a:r>
            <a:endParaRPr sz="16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08176" y="540410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Most move funds between your own addresses. Paying someone else on another chain is a different product.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03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THE PRODUCT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A settlement rail with four front doors.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7280"/>
                </a:solidFill>
                <a:latin typeface="Geist"/>
              </a:rPr>
              <a:t>One signature. No gas. Funds land with anyone the payer names, on any supported chain.</a:t>
            </a:r>
            <a:endParaRPr sz="16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697480"/>
            <a:ext cx="11057839" cy="1691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898648"/>
            <a:ext cx="232554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6B7280"/>
                </a:solidFill>
                <a:latin typeface="Geist Mono"/>
              </a:rPr>
              <a:t>STEP 01</a:t>
            </a:r>
            <a:endParaRPr sz="1000" b="1" spc="14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384" y="3200400"/>
            <a:ext cx="23255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A0A0A"/>
                </a:solidFill>
                <a:latin typeface="Geist"/>
              </a:rPr>
              <a:t>Sign</a:t>
            </a:r>
            <a:endParaRPr sz="17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3566160"/>
            <a:ext cx="23255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Geist"/>
              </a:rPr>
              <a:t>Payer signs an EIP-3009 permit. A signature, not a transaction.</a:t>
            </a:r>
            <a:endParaRPr sz="12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31387" y="2697480"/>
            <a:ext cx="28575" cy="1691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898648"/>
            <a:ext cx="232554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6B7280"/>
                </a:solidFill>
                <a:latin typeface="Geist Mono"/>
              </a:rPr>
              <a:t>STEP 02</a:t>
            </a:r>
            <a:endParaRPr sz="1000" b="1" spc="14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50843" y="3200400"/>
            <a:ext cx="23255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A0A0A"/>
                </a:solidFill>
                <a:latin typeface="Geist"/>
              </a:rPr>
              <a:t>Relay</a:t>
            </a:r>
            <a:endParaRPr sz="17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0843" y="3566160"/>
            <a:ext cx="23255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Geist"/>
              </a:rPr>
              <a:t>Breeja submits the deposit on the source chain and pays the gas.</a:t>
            </a:r>
            <a:endParaRPr sz="12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5847" y="2697480"/>
            <a:ext cx="28575" cy="1691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5303" y="2898648"/>
            <a:ext cx="232554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6B7280"/>
                </a:solidFill>
                <a:latin typeface="Geist Mono"/>
              </a:rPr>
              <a:t>STEP 03</a:t>
            </a:r>
            <a:endParaRPr sz="1000" b="1" spc="14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15303" y="3200400"/>
            <a:ext cx="23255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A0A0A"/>
                </a:solidFill>
                <a:latin typeface="Geist"/>
              </a:rPr>
              <a:t>Route</a:t>
            </a:r>
            <a:endParaRPr sz="17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15303" y="3566160"/>
            <a:ext cx="23255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Geist"/>
              </a:rPr>
              <a:t>Router scores live gas, liquidity and preference, then picks a path.</a:t>
            </a:r>
            <a:endParaRPr sz="12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60307" y="2697480"/>
            <a:ext cx="28575" cy="1691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763" y="2898648"/>
            <a:ext cx="232554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6B7280"/>
                </a:solidFill>
                <a:latin typeface="Geist Mono"/>
              </a:rPr>
              <a:t>STEP 04</a:t>
            </a:r>
            <a:endParaRPr sz="1000" b="1" spc="14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79763" y="3200400"/>
            <a:ext cx="23255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A0A0A"/>
                </a:solidFill>
                <a:latin typeface="Geist"/>
              </a:rPr>
              <a:t>Settle</a:t>
            </a:r>
            <a:endParaRPr sz="17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79763" y="3566160"/>
            <a:ext cx="23255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Geist"/>
              </a:rPr>
              <a:t>Funds released to the named recipient on the destination chain.</a:t>
            </a:r>
            <a:endParaRPr sz="12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0936" y="4745736"/>
            <a:ext cx="11057839" cy="5669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681728"/>
            <a:ext cx="11057839" cy="566928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A0A0A"/>
                </a:solidFill>
                <a:latin typeface="Geist Mono"/>
              </a:rPr>
              <a:t>Neither payer nor recipient ever holds a gas token.</a:t>
            </a:r>
            <a:endParaRPr sz="1400" b="1">
              <a:solidFill>
                <a:srgbClr val="0A0A0A"/>
              </a:solidFill>
              <a:latin typeface="Geist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04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SAME RAIL, FOUR CALLERS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Built for software first.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0936" y="2029968"/>
            <a:ext cx="5391759" cy="14813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5391759" cy="14813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391759" cy="438912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20">
                <a:solidFill>
                  <a:srgbClr val="F4623A"/>
                </a:solidFill>
                <a:latin typeface="Geist Mono"/>
              </a:rPr>
              <a:t>Human · Web app</a:t>
            </a:r>
            <a:endParaRPr sz="1100" b="1" spc="12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587752"/>
            <a:ext cx="49894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Connect a wallet, pick chains, sign, watch it land live.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7015" y="2029968"/>
            <a:ext cx="5391759" cy="14813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965960"/>
            <a:ext cx="5391759" cy="14813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965960"/>
            <a:ext cx="5391759" cy="438912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20">
                <a:solidFill>
                  <a:srgbClr val="F4623A"/>
                </a:solidFill>
                <a:latin typeface="Geist Mono"/>
              </a:rPr>
              <a:t>Agent · SDK</a:t>
            </a:r>
            <a:endParaRPr sz="1100" b="1" spc="12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34175" y="2587752"/>
            <a:ext cx="49894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One call, no browser, no gas.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34175" y="2935224"/>
            <a:ext cx="4989423" cy="32918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A0A0A"/>
                </a:solidFill>
                <a:latin typeface="Geist Mono"/>
              </a:rPr>
              <a:t>await breeja.pay({ … })</a:t>
            </a:r>
            <a:endParaRPr sz="1100" b="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" y="3785616"/>
            <a:ext cx="5391759" cy="14813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721608"/>
            <a:ext cx="5391759" cy="14813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21608"/>
            <a:ext cx="5391759" cy="438912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20">
                <a:solidFill>
                  <a:srgbClr val="F4623A"/>
                </a:solidFill>
                <a:latin typeface="Geist Mono"/>
              </a:rPr>
              <a:t>Agent · MCP</a:t>
            </a:r>
            <a:endParaRPr sz="1100" b="1" spc="12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4343400"/>
            <a:ext cx="49894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Claude pays across chains as a tool call, with spend caps enforced.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97015" y="3785616"/>
            <a:ext cx="5391759" cy="14813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721608"/>
            <a:ext cx="5391759" cy="14813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3721608"/>
            <a:ext cx="5391759" cy="438912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20">
                <a:solidFill>
                  <a:srgbClr val="F4623A"/>
                </a:solidFill>
                <a:latin typeface="Geist Mono"/>
              </a:rPr>
              <a:t>Agent · x402</a:t>
            </a:r>
            <a:endParaRPr sz="1100" b="1" spc="12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4175" y="4343400"/>
            <a:ext cx="49894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Hit a paywalled endpoint, settle, retry with proof. Cross-chain.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" y="523036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All four consume the same SDK. The SDK is the product — the web app is just one client.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05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DEVELOPER EXPERIENCE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The whole integration.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1190" y="1911350"/>
            <a:ext cx="6766560" cy="2863215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7055" y="1847215"/>
            <a:ext cx="6766560" cy="2863215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6543"/>
            <a:ext cx="6254496" cy="2194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 b="1">
                <a:solidFill>
                  <a:srgbClr val="F4623A"/>
                </a:solidFill>
                <a:latin typeface="Geist Mono"/>
              </a:rPr>
              <a:t>import </a:t>
            </a:r>
            <a:r>
              <a:rPr sz="1300" b="1">
                <a:solidFill>
                  <a:srgbClr val="FFFFFF"/>
                </a:solidFill>
                <a:latin typeface="Geist Mono"/>
              </a:rPr>
              <a:t>{ Breeja } </a:t>
            </a:r>
            <a:r>
              <a:rPr sz="1300" b="1">
                <a:solidFill>
                  <a:srgbClr val="F4623A"/>
                </a:solidFill>
                <a:latin typeface="Geist Mono"/>
              </a:rPr>
              <a:t>from </a:t>
            </a:r>
            <a:r>
              <a:rPr sz="1300" b="1">
                <a:solidFill>
                  <a:srgbClr val="F4623A"/>
                </a:solidFill>
                <a:latin typeface="Geist Mono"/>
              </a:rPr>
              <a:t>"@breeja/sdk";</a:t>
            </a:r>
            <a:endParaRPr sz="1300" b="1">
              <a:solidFill>
                <a:srgbClr val="F4623A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F4623A"/>
                </a:solidFill>
                <a:latin typeface="Geist Mono"/>
              </a:rPr>
              <a:t>const </a:t>
            </a:r>
            <a:r>
              <a:rPr sz="1300" b="1">
                <a:solidFill>
                  <a:srgbClr val="FFFFFF"/>
                </a:solidFill>
                <a:latin typeface="Geist Mono"/>
              </a:rPr>
              <a:t>payment = </a:t>
            </a:r>
            <a:r>
              <a:rPr sz="1300" b="1">
                <a:solidFill>
                  <a:srgbClr val="F4623A"/>
                </a:solidFill>
                <a:latin typeface="Geist Mono"/>
              </a:rPr>
              <a:t>await </a:t>
            </a:r>
            <a:r>
              <a:rPr sz="1300" b="1">
                <a:solidFill>
                  <a:srgbClr val="FFFFFF"/>
                </a:solidFill>
                <a:latin typeface="Geist Mono"/>
              </a:rPr>
              <a:t>breeja.</a:t>
            </a:r>
            <a:r>
              <a:rPr sz="1300" b="1">
                <a:solidFill>
                  <a:srgbClr val="F4623A"/>
                </a:solidFill>
                <a:latin typeface="Geist Mono"/>
              </a:rPr>
              <a:t>pay</a:t>
            </a:r>
            <a:r>
              <a:rPr sz="1300" b="1">
                <a:solidFill>
                  <a:srgbClr val="FFFFFF"/>
                </a:solidFill>
                <a:latin typeface="Geist Mono"/>
              </a:rPr>
              <a:t>({</a:t>
            </a:r>
            <a:endParaRPr sz="1300" b="1">
              <a:solidFill>
                <a:srgbClr val="FFFFFF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FFFFFF"/>
                </a:solidFill>
                <a:latin typeface="Geist Mono"/>
              </a:rPr>
              <a:t>  from:      </a:t>
            </a:r>
            <a:r>
              <a:rPr sz="1300" b="1">
                <a:solidFill>
                  <a:srgbClr val="F4623A"/>
                </a:solidFill>
                <a:latin typeface="Geist Mono"/>
              </a:rPr>
              <a:t>"base-sepolia",</a:t>
            </a:r>
            <a:endParaRPr sz="1300" b="1">
              <a:solidFill>
                <a:srgbClr val="F4623A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FFFFFF"/>
                </a:solidFill>
                <a:latin typeface="Geist Mono"/>
              </a:rPr>
              <a:t>  to:        </a:t>
            </a:r>
            <a:r>
              <a:rPr sz="1300" b="1">
                <a:solidFill>
                  <a:srgbClr val="F4623A"/>
                </a:solidFill>
                <a:latin typeface="Geist Mono"/>
              </a:rPr>
              <a:t>"arbitrum-sepolia",</a:t>
            </a:r>
            <a:endParaRPr sz="1300" b="1">
              <a:solidFill>
                <a:srgbClr val="F4623A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FFFFFF"/>
                </a:solidFill>
                <a:latin typeface="Geist Mono"/>
              </a:rPr>
              <a:t>  amount:    </a:t>
            </a:r>
            <a:r>
              <a:rPr sz="1300" b="1">
                <a:solidFill>
                  <a:srgbClr val="F4623A"/>
                </a:solidFill>
                <a:latin typeface="Geist Mono"/>
              </a:rPr>
              <a:t>"10.00",</a:t>
            </a:r>
            <a:endParaRPr sz="1300" b="1">
              <a:solidFill>
                <a:srgbClr val="F4623A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FFFFFF"/>
                </a:solidFill>
                <a:latin typeface="Geist Mono"/>
              </a:rPr>
              <a:t>  recipient: </a:t>
            </a:r>
            <a:r>
              <a:rPr sz="1300" b="1">
                <a:solidFill>
                  <a:srgbClr val="F4623A"/>
                </a:solidFill>
                <a:latin typeface="Geist Mono"/>
              </a:rPr>
              <a:t>"alice.eth",</a:t>
            </a:r>
            <a:endParaRPr sz="1300" b="1">
              <a:solidFill>
                <a:srgbClr val="F4623A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FFFFFF"/>
                </a:solidFill>
                <a:latin typeface="Geist Mono"/>
              </a:rPr>
              <a:t>  signer:    account,</a:t>
            </a:r>
            <a:endParaRPr sz="1300" b="1">
              <a:solidFill>
                <a:srgbClr val="FFFFFF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FFFFFF"/>
                </a:solidFill>
                <a:latin typeface="Geist Mono"/>
              </a:rPr>
              <a:t>});</a:t>
            </a:r>
            <a:endParaRPr sz="1300" b="1">
              <a:solidFill>
                <a:srgbClr val="FFFFFF"/>
              </a:solidFill>
              <a:latin typeface="Geist Mono"/>
            </a:endParaRPr>
          </a:p>
          <a:p>
            <a:pPr>
              <a:lnSpc>
                <a:spcPct val="132000"/>
              </a:lnSpc>
            </a:pPr>
          </a:p>
          <a:p>
            <a:pPr>
              <a:lnSpc>
                <a:spcPct val="132000"/>
              </a:lnSpc>
            </a:pPr>
            <a:r>
              <a:rPr sz="1300" b="1">
                <a:solidFill>
                  <a:srgbClr val="8FA3BF"/>
                </a:solidFill>
                <a:latin typeface="Geist Mono"/>
              </a:rPr>
              <a:t>// → settled in seconds, no gas token held</a:t>
            </a:r>
            <a:endParaRPr sz="1300" b="1">
              <a:solidFill>
                <a:srgbClr val="8FA3BF"/>
              </a:solidFill>
              <a:latin typeface="Geist Mon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44384" y="1847088"/>
            <a:ext cx="3980383" cy="78638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44384" y="1847088"/>
            <a:ext cx="3980383" cy="91440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2048256"/>
            <a:ext cx="361462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Geist"/>
              </a:rPr>
              <a:t>Runtime discovery</a:t>
            </a:r>
            <a:endParaRPr sz="14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27264" y="2304288"/>
            <a:ext cx="36146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"/>
              </a:rPr>
              <a:t>Agents call chains() — never a hardcoded list.</a:t>
            </a:r>
            <a:endParaRPr sz="11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4384" y="2761488"/>
            <a:ext cx="3980383" cy="78638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44384" y="2761488"/>
            <a:ext cx="3980383" cy="91440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2962656"/>
            <a:ext cx="361462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Geist"/>
              </a:rPr>
              <a:t>Typed errors</a:t>
            </a:r>
            <a:endParaRPr sz="14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27264" y="3218688"/>
            <a:ext cx="36146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"/>
              </a:rPr>
              <a:t>Stable codes an agent can branch on exhaustively.</a:t>
            </a:r>
            <a:endParaRPr sz="11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44384" y="3675888"/>
            <a:ext cx="3980383" cy="78638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4384" y="3675888"/>
            <a:ext cx="3980383" cy="91440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3877056"/>
            <a:ext cx="361462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Geist"/>
              </a:rPr>
              <a:t>Idempotent</a:t>
            </a:r>
            <a:endParaRPr sz="14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27264" y="4133088"/>
            <a:ext cx="36146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"/>
              </a:rPr>
              <a:t>Keyed on the permit nonce. Retries never double-spend.</a:t>
            </a:r>
            <a:endParaRPr sz="1100" b="0">
              <a:solidFill>
                <a:srgbClr val="6B7280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06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ROUTING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A real choice, not a single path.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7280"/>
                </a:solidFill>
                <a:latin typeface="Geist"/>
              </a:rPr>
              <a:t>Every payment is quoted across routes and scored on live gas, pool liquidity, and caller preference.</a:t>
            </a:r>
            <a:endParaRPr sz="16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697480"/>
            <a:ext cx="2103120" cy="512064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00">
                <a:solidFill>
                  <a:srgbClr val="FFFFFF"/>
                </a:solidFill>
                <a:latin typeface="Geist Mono"/>
              </a:rPr>
              <a:t>Route</a:t>
            </a:r>
            <a:endParaRPr sz="1100" b="1" spc="100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70048" y="2697480"/>
            <a:ext cx="1463040" cy="512064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00">
                <a:solidFill>
                  <a:srgbClr val="FFFFFF"/>
                </a:solidFill>
                <a:latin typeface="Geist Mono"/>
              </a:rPr>
              <a:t>Latency</a:t>
            </a:r>
            <a:endParaRPr sz="1100" b="1" spc="100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33088" y="2697480"/>
            <a:ext cx="1463040" cy="512064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00">
                <a:solidFill>
                  <a:srgbClr val="FFFFFF"/>
                </a:solidFill>
                <a:latin typeface="Geist Mono"/>
              </a:rPr>
              <a:t>Cost</a:t>
            </a:r>
            <a:endParaRPr sz="1100" b="1" spc="100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96128" y="2697480"/>
            <a:ext cx="2286000" cy="512064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00">
                <a:solidFill>
                  <a:srgbClr val="FFFFFF"/>
                </a:solidFill>
                <a:latin typeface="Geist Mono"/>
              </a:rPr>
              <a:t>Custody</a:t>
            </a:r>
            <a:endParaRPr sz="1100" b="1" spc="100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82128" y="2697480"/>
            <a:ext cx="3739896" cy="512064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00">
                <a:solidFill>
                  <a:srgbClr val="FFFFFF"/>
                </a:solidFill>
                <a:latin typeface="Geist Mono"/>
              </a:rPr>
              <a:t>Best for</a:t>
            </a:r>
            <a:endParaRPr sz="1100" b="1" spc="100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8" y="3209544"/>
            <a:ext cx="210312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0A0A"/>
                </a:solidFill>
                <a:latin typeface="Geist"/>
              </a:rPr>
              <a:t>Fast pool</a:t>
            </a:r>
            <a:endParaRPr sz="13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70048" y="3209544"/>
            <a:ext cx="146304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A0A0A"/>
                </a:solidFill>
                <a:latin typeface="Geist Mono"/>
              </a:rPr>
              <a:t>~10s</a:t>
            </a:r>
            <a:endParaRPr sz="1300" b="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33088" y="3209544"/>
            <a:ext cx="146304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A0A0A"/>
                </a:solidFill>
                <a:latin typeface="Geist Mono"/>
              </a:rPr>
              <a:t>0.5%</a:t>
            </a:r>
            <a:endParaRPr sz="1300" b="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96128" y="3209544"/>
            <a:ext cx="228600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364992"/>
            <a:ext cx="943660" cy="292608"/>
          </a:xfrm>
          <a:prstGeom prst="rect">
            <a:avLst/>
          </a:prstGeom>
          <a:solidFill>
            <a:srgbClr val="6B7280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Geist Mono"/>
              </a:rPr>
              <a:t>Custodial</a:t>
            </a:r>
            <a:endParaRPr sz="10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82128" y="3209544"/>
            <a:ext cx="3739896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A0A0A"/>
                </a:solidFill>
                <a:latin typeface="Geist"/>
              </a:rPr>
              <a:t>Small, latency-sensitive payments</a:t>
            </a:r>
            <a:endParaRPr sz="13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3813048"/>
            <a:ext cx="210312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0A0A"/>
                </a:solidFill>
                <a:latin typeface="Geist"/>
              </a:rPr>
              <a:t>CCTP</a:t>
            </a:r>
            <a:endParaRPr sz="13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70048" y="3813048"/>
            <a:ext cx="146304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A0A0A"/>
                </a:solidFill>
                <a:latin typeface="Geist Mono"/>
              </a:rPr>
              <a:t>~15m</a:t>
            </a:r>
            <a:endParaRPr sz="1300" b="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33088" y="3813048"/>
            <a:ext cx="146304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A0A0A"/>
                </a:solidFill>
                <a:latin typeface="Geist Mono"/>
              </a:rPr>
              <a:t>gas only</a:t>
            </a:r>
            <a:endParaRPr sz="1300" b="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96128" y="3813048"/>
            <a:ext cx="2286000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42432" y="3968496"/>
            <a:ext cx="1426463" cy="292608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4623A"/>
                </a:solidFill>
                <a:latin typeface="Geist Mono"/>
              </a:rPr>
              <a:t>Trust-minimized</a:t>
            </a:r>
            <a:endParaRPr sz="1000" b="1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882128" y="3813048"/>
            <a:ext cx="3739896" cy="60350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A0A0A"/>
                </a:solidFill>
                <a:latin typeface="Geist"/>
              </a:rPr>
              <a:t>Large transfers, canonical guarantees</a:t>
            </a:r>
            <a:endParaRPr sz="13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46177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Callers override with preference: "fast" | "cheap" | "trustless". Custody risk scales with amount; latency tolerance doesn't.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07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THE AI LAYER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Models explain. They never decide.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7280"/>
                </a:solidFill>
                <a:latin typeface="Geist"/>
              </a:rPr>
              <a:t>The boundary is enforced in code, and it's why the system is auditable.</a:t>
            </a:r>
            <a:endParaRPr sz="160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606040"/>
            <a:ext cx="11057839" cy="17556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06040"/>
            <a:ext cx="3685946" cy="438912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20">
                <a:solidFill>
                  <a:srgbClr val="0A0A0A"/>
                </a:solidFill>
                <a:latin typeface="Geist Mono"/>
              </a:rPr>
              <a:t>LLM permitted</a:t>
            </a:r>
            <a:endParaRPr sz="1100" b="1" spc="12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3044952"/>
            <a:ext cx="3685946" cy="438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A0A0A"/>
                </a:solidFill>
                <a:latin typeface="Geist"/>
              </a:rPr>
              <a:t>Parse natural-language intent</a:t>
            </a:r>
            <a:endParaRPr sz="12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3483864"/>
            <a:ext cx="3685946" cy="438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A0A0A"/>
                </a:solidFill>
                <a:latin typeface="Geist"/>
              </a:rPr>
              <a:t>Explain a completed decision</a:t>
            </a:r>
            <a:endParaRPr sz="12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52874" y="2606040"/>
            <a:ext cx="3685946" cy="438912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20">
                <a:solidFill>
                  <a:srgbClr val="FFFFFF"/>
                </a:solidFill>
                <a:latin typeface="Geist Mono"/>
              </a:rPr>
              <a:t>Deterministic</a:t>
            </a:r>
            <a:endParaRPr sz="1100" b="1" spc="120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2874" y="3044952"/>
            <a:ext cx="3685946" cy="438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A0A0A"/>
                </a:solidFill>
                <a:latin typeface="Geist"/>
              </a:rPr>
              <a:t>Validate the request</a:t>
            </a:r>
            <a:endParaRPr sz="12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52874" y="3483864"/>
            <a:ext cx="3685946" cy="438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A0A0A"/>
                </a:solidFill>
                <a:latin typeface="Geist"/>
              </a:rPr>
              <a:t>Select the route</a:t>
            </a:r>
            <a:endParaRPr sz="12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52874" y="3922776"/>
            <a:ext cx="3685946" cy="438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A0A0A"/>
                </a:solidFill>
                <a:latin typeface="Geist"/>
              </a:rPr>
              <a:t>Compute the fee</a:t>
            </a:r>
            <a:endParaRPr sz="12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2874" y="2606040"/>
            <a:ext cx="28575" cy="17556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8820" y="2606040"/>
            <a:ext cx="3685946" cy="438912"/>
          </a:xfrm>
          <a:prstGeom prst="rect">
            <a:avLst/>
          </a:prstGeom>
          <a:solidFill>
            <a:srgbClr val="6B7280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100" b="1" spc="120">
                <a:solidFill>
                  <a:srgbClr val="FFFFFF"/>
                </a:solidFill>
                <a:latin typeface="Geist Mono"/>
              </a:rPr>
              <a:t>LLM forbidden</a:t>
            </a:r>
            <a:endParaRPr sz="1100" b="1" spc="120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38820" y="3044952"/>
            <a:ext cx="3685946" cy="438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A0A0A"/>
                </a:solidFill>
                <a:latin typeface="Geist"/>
              </a:rPr>
              <a:t>Choosing where money goes</a:t>
            </a:r>
            <a:endParaRPr sz="12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38820" y="3483864"/>
            <a:ext cx="3685946" cy="438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A0A0A"/>
                </a:solidFill>
                <a:latin typeface="Geist"/>
              </a:rPr>
              <a:t>Authorizing a release</a:t>
            </a:r>
            <a:endParaRPr sz="120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38820" y="2606040"/>
            <a:ext cx="28575" cy="17556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" y="4773168"/>
            <a:ext cx="11057839" cy="8412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09160"/>
            <a:ext cx="11057839" cy="841248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73152" rIns="256032" bIns="73152" rtlCol="0" anchor="ctr"/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A0A0A"/>
                </a:solidFill>
                <a:latin typeface="Geist"/>
              </a:rPr>
              <a:t>Every number in a generated explanation is validated against the decision object. Mismatch falls back to a template — a model never states a fee the system didn't compute.</a:t>
            </a:r>
            <a:endParaRPr sz="1350" b="1">
              <a:solidFill>
                <a:srgbClr val="0A0A0A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08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COVERAGE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Geist"/>
              </a:rPr>
              <a:t>Every chain is both a source and a destination.</a:t>
            </a:r>
            <a:endParaRPr sz="34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0936" y="2167128"/>
            <a:ext cx="3551834" cy="1298448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3551834" cy="12984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04288"/>
            <a:ext cx="31129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Geist"/>
              </a:rPr>
              <a:t>Base</a:t>
            </a:r>
            <a:endParaRPr sz="1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384" y="2670048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 Mono"/>
              </a:rPr>
              <a:t>Sepolia · 84532</a:t>
            </a:r>
            <a:endParaRPr sz="1100" b="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980944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60">
                <a:solidFill>
                  <a:srgbClr val="0A0A0A"/>
                </a:solidFill>
                <a:latin typeface="Geist Mono"/>
              </a:rPr>
              <a:t>Fast pool · CCTP</a:t>
            </a:r>
            <a:endParaRPr sz="1100" b="1" spc="6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3938" y="2167128"/>
            <a:ext cx="3551834" cy="1298448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9930" y="2103120"/>
            <a:ext cx="3551834" cy="12984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9386" y="2304288"/>
            <a:ext cx="31129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Geist"/>
              </a:rPr>
              <a:t>Arbitrum</a:t>
            </a:r>
            <a:endParaRPr sz="1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39386" y="2670048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 Mono"/>
              </a:rPr>
              <a:t>Sepolia · 421614</a:t>
            </a:r>
            <a:endParaRPr sz="1100" b="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39386" y="2980944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60">
                <a:solidFill>
                  <a:srgbClr val="0A0A0A"/>
                </a:solidFill>
                <a:latin typeface="Geist Mono"/>
              </a:rPr>
              <a:t>Fast pool · CCTP</a:t>
            </a:r>
            <a:endParaRPr sz="1100" b="1" spc="6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6940" y="2167128"/>
            <a:ext cx="3551834" cy="1298448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2932" y="2103120"/>
            <a:ext cx="3551834" cy="12984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388" y="2304288"/>
            <a:ext cx="31129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Geist"/>
              </a:rPr>
              <a:t>Optimism</a:t>
            </a:r>
            <a:endParaRPr sz="1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92388" y="2670048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 Mono"/>
              </a:rPr>
              <a:t>Sepolia · 11155420</a:t>
            </a:r>
            <a:endParaRPr sz="1100" b="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92388" y="2980944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60">
                <a:solidFill>
                  <a:srgbClr val="0A0A0A"/>
                </a:solidFill>
                <a:latin typeface="Geist Mono"/>
              </a:rPr>
              <a:t>Fast pool · CCTP</a:t>
            </a:r>
            <a:endParaRPr sz="1100" b="1" spc="6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6" y="3721608"/>
            <a:ext cx="3551834" cy="1298448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657600"/>
            <a:ext cx="3551834" cy="12984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858768"/>
            <a:ext cx="31129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Geist"/>
              </a:rPr>
              <a:t>Arc</a:t>
            </a:r>
            <a:endParaRPr sz="1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6384" y="4224528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 Mono"/>
              </a:rPr>
              <a:t>Circle's L1 · native USDC</a:t>
            </a:r>
            <a:endParaRPr sz="1100" b="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6384" y="4535424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60">
                <a:solidFill>
                  <a:srgbClr val="0A0A0A"/>
                </a:solidFill>
                <a:latin typeface="Geist Mono"/>
              </a:rPr>
              <a:t>Fast pool · CCTP</a:t>
            </a:r>
            <a:endParaRPr sz="1100" b="1" spc="6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83938" y="3721608"/>
            <a:ext cx="3551834" cy="1298448"/>
          </a:xfrm>
          <a:prstGeom prst="rect">
            <a:avLst/>
          </a:prstGeom>
          <a:solidFill>
            <a:srgbClr val="F4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9930" y="3657600"/>
            <a:ext cx="3551834" cy="12984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9386" y="3858768"/>
            <a:ext cx="31129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Geist"/>
              </a:rPr>
              <a:t>Hedera</a:t>
            </a:r>
            <a:endParaRPr sz="1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39386" y="4224528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 Mono"/>
              </a:rPr>
              <a:t>Testnet · 296</a:t>
            </a:r>
            <a:endParaRPr sz="1100" b="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39386" y="4535424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60">
                <a:solidFill>
                  <a:srgbClr val="0A0A0A"/>
                </a:solidFill>
                <a:latin typeface="Geist Mono"/>
              </a:rPr>
              <a:t>Fast pool</a:t>
            </a:r>
            <a:endParaRPr sz="1100" b="1" spc="6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36940" y="3721608"/>
            <a:ext cx="3551834" cy="12984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2932" y="3657600"/>
            <a:ext cx="3551834" cy="12984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2388" y="3858768"/>
            <a:ext cx="31129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Geist"/>
              </a:rPr>
              <a:t>Ethereum</a:t>
            </a:r>
            <a:endParaRPr sz="1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92388" y="4224528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Geist Mono"/>
              </a:rPr>
              <a:t>Sepolia · 11155111</a:t>
            </a:r>
            <a:endParaRPr sz="1100" b="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92388" y="4535424"/>
            <a:ext cx="31129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60">
                <a:solidFill>
                  <a:srgbClr val="0A0A0A"/>
                </a:solidFill>
                <a:latin typeface="Geist Mono"/>
              </a:rPr>
              <a:t>Source only</a:t>
            </a:r>
            <a:endParaRPr sz="1100" b="1" spc="6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A payment is a directed edge between any two. Not a hub-and-spoke bridge.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09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TRUST MODEL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Stated plainly, not buried.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11057839" cy="233172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1965960"/>
            <a:ext cx="28575" cy="23317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03704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20">
                <a:solidFill>
                  <a:srgbClr val="0A0A0A"/>
                </a:solidFill>
                <a:latin typeface="Geist Mono"/>
              </a:rPr>
              <a:t>WHAT WE MITIGATE</a:t>
            </a:r>
            <a:endParaRPr sz="1100" b="1" spc="12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0A0A"/>
                </a:solidFill>
                <a:latin typeface="Geist"/>
              </a:rPr>
              <a:t>—</a:t>
            </a:r>
            <a:endParaRPr sz="12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" y="2587752"/>
            <a:ext cx="468767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Geist"/>
              </a:rPr>
              <a:t>CCTP offered as a trust-minimized alternative for the same payment</a:t>
            </a:r>
            <a:endParaRPr sz="12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3008376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0A0A"/>
                </a:solidFill>
                <a:latin typeface="Geist"/>
              </a:rPr>
              <a:t>—</a:t>
            </a:r>
            <a:endParaRPr sz="12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" y="3008376"/>
            <a:ext cx="468767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Geist"/>
              </a:rPr>
              <a:t>Pool ownership held by a Safe multisig, not a single EOA</a:t>
            </a:r>
            <a:endParaRPr sz="12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342900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0A0A"/>
                </a:solidFill>
                <a:latin typeface="Geist"/>
              </a:rPr>
              <a:t>—</a:t>
            </a:r>
            <a:endParaRPr sz="12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8992" y="3429000"/>
            <a:ext cx="468767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Geist"/>
              </a:rPr>
              <a:t>Release authority is Ledger-backed, not a hot server key</a:t>
            </a:r>
            <a:endParaRPr sz="12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3849624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0A0A"/>
                </a:solidFill>
                <a:latin typeface="Geist"/>
              </a:rPr>
              <a:t>—</a:t>
            </a:r>
            <a:endParaRPr sz="12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8992" y="3849624"/>
            <a:ext cx="468767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Geist"/>
              </a:rPr>
              <a:t>State is durable and reconciled from chain events</a:t>
            </a:r>
            <a:endParaRPr sz="12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6743" y="2203704"/>
            <a:ext cx="49437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20">
                <a:solidFill>
                  <a:srgbClr val="0A0A0A"/>
                </a:solidFill>
                <a:latin typeface="Geist Mono"/>
              </a:rPr>
              <a:t>WHAT WE DON'T CLAIM</a:t>
            </a:r>
            <a:endParaRPr sz="1100" b="1" spc="120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6743" y="2587752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0A0A"/>
                </a:solidFill>
                <a:latin typeface="Geist"/>
              </a:rPr>
              <a:t>—</a:t>
            </a:r>
            <a:endParaRPr sz="12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4487" y="2587752"/>
            <a:ext cx="466938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Geist"/>
              </a:rPr>
              <a:t>The fast-pool route is custodial — the relayer controls liquidity and decides when to release</a:t>
            </a:r>
            <a:endParaRPr sz="12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6743" y="3300984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0A0A"/>
                </a:solidFill>
                <a:latin typeface="Geist"/>
              </a:rPr>
              <a:t>—</a:t>
            </a:r>
            <a:endParaRPr sz="12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44487" y="3300984"/>
            <a:ext cx="466938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Geist"/>
              </a:rPr>
              <a:t>Release is not decentralized. A bonded watcher network is the next real trust reduction, and it is not in this build</a:t>
            </a:r>
            <a:endParaRPr sz="12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0936" y="4681728"/>
            <a:ext cx="11057839" cy="65836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617720"/>
            <a:ext cx="11057839" cy="658368"/>
          </a:xfrm>
          <a:prstGeom prst="rect">
            <a:avLst/>
          </a:prstGeom>
          <a:solidFill>
            <a:srgbClr val="FDEDE7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A0A0A"/>
                </a:solidFill>
                <a:latin typeface="Geist"/>
              </a:rPr>
              <a:t>Same tradeoff early Across and Hop shipped — and the honest reason the fast route is fast.</a:t>
            </a:r>
            <a:endParaRPr sz="1400" b="1">
              <a:solidFill>
                <a:srgbClr val="0A0A0A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10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INTEGRATIONS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Each one load-bearing.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11057839" cy="234086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85416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Circle / Arc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532888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CCTP settlement route + native USDC chain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31387" y="1965960"/>
            <a:ext cx="28575" cy="2340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2555" y="2185416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The Graph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32555" y="2532888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Indexed payment history across every chain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5847" y="1965960"/>
            <a:ext cx="28575" cy="2340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7015" y="2185416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Privy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97015" y="2532888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Embedded wallets and agent server wallets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60307" y="1965960"/>
            <a:ext cx="28575" cy="2340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475" y="2185416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ENS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61475" y="2532888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Agent identity — pay a name, not a hex string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3136392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355848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Ledger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3703320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Hardware-backed release authority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31387" y="1965960"/>
            <a:ext cx="28575" cy="2340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2555" y="3355848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Hedera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32555" y="3703320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Source and destination chain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95847" y="1965960"/>
            <a:ext cx="28575" cy="2340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015" y="3355848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Bazantic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97015" y="3703320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Agent-ready SDK and MCP tooling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860307" y="1965960"/>
            <a:ext cx="28575" cy="2340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61475" y="3355848"/>
            <a:ext cx="23621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A0A0A"/>
                </a:solidFill>
                <a:latin typeface="Geist"/>
              </a:rPr>
              <a:t>World</a:t>
            </a:r>
            <a:endParaRPr sz="15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61475" y="3703320"/>
            <a:ext cx="236212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Geist"/>
              </a:rPr>
              <a:t>Verified human authorizes an agent's spend cap</a:t>
            </a:r>
            <a:endParaRPr sz="1150" b="0">
              <a:solidFill>
                <a:srgbClr val="6B7280"/>
              </a:solidFill>
              <a:latin typeface="Geis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928" y="4617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Geist"/>
              </a:rPr>
              <a:t>Deliberately skipped: AMM and DeFi-position tracks. A swap bolted onto a payment rail is the integration judges see through.</a:t>
            </a:r>
            <a:endParaRPr sz="1300" b="0">
              <a:solidFill>
                <a:srgbClr val="6B7280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eist Mono"/>
              </a:rPr>
              <a:t>11</a:t>
            </a:r>
            <a:endParaRPr sz="1100" b="1">
              <a:solidFill>
                <a:srgbClr val="FFFFFF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6B7280"/>
                </a:solidFill>
                <a:latin typeface="Geist Mono"/>
              </a:rPr>
              <a:t>STATUS</a:t>
            </a:r>
            <a:endParaRPr sz="1100" b="1" spc="16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0A0A0A"/>
                </a:solidFill>
                <a:latin typeface="Geist"/>
              </a:rPr>
              <a:t>Shipped, in flight, next.</a:t>
            </a:r>
            <a:endParaRPr sz="3800" b="1">
              <a:solidFill>
                <a:srgbClr val="0A0A0A"/>
              </a:solidFill>
              <a:latin typeface="Geis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11057839" cy="4096512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084832"/>
            <a:ext cx="182880" cy="182880"/>
          </a:xfrm>
          <a:prstGeom prst="rect">
            <a:avLst/>
          </a:prstGeom>
          <a:solidFill>
            <a:srgbClr val="0A0A0A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05740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EIP-3009 gasless permits, live on real testnets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70287" y="20756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SHIPPED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2596896"/>
            <a:ext cx="182880" cy="182880"/>
          </a:xfrm>
          <a:prstGeom prst="rect">
            <a:avLst/>
          </a:prstGeom>
          <a:solidFill>
            <a:srgbClr val="0A0A0A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56946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Contracts covered by tests, deployed and verified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70287" y="2587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SHIPPED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2944368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108960"/>
            <a:ext cx="182880" cy="182880"/>
          </a:xfrm>
          <a:prstGeom prst="rect">
            <a:avLst/>
          </a:prstGeom>
          <a:solidFill>
            <a:srgbClr val="0A0A0A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08152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Agent-to-agent payment, no browser in the loop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70287" y="30998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SHIPPED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3456432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3621024"/>
            <a:ext cx="182880" cy="182880"/>
          </a:xfrm>
          <a:prstGeom prst="rect">
            <a:avLst/>
          </a:prstGeom>
          <a:solidFill>
            <a:srgbClr val="F4623A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359359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Durable state, idempotency, reconciliation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70287" y="36118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IN FLIGHT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3968496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" y="4133088"/>
            <a:ext cx="182880" cy="182880"/>
          </a:xfrm>
          <a:prstGeom prst="rect">
            <a:avLst/>
          </a:prstGeom>
          <a:solidFill>
            <a:srgbClr val="F4623A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10565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Multi-chain mesh + CCTP route scoring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70287" y="41239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IN FLIGHT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6928" y="4480560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" y="4645152"/>
            <a:ext cx="182880" cy="182880"/>
          </a:xfrm>
          <a:prstGeom prst="rect">
            <a:avLst/>
          </a:prstGeom>
          <a:solidFill>
            <a:srgbClr val="F4623A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61772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SDK, MCP server, x402 demo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70287" y="46360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IN FLIGHT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4992624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" y="515721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51297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Bonded watcher network — decentralized release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70287" y="51480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NEXT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6928" y="5504688"/>
            <a:ext cx="11057839" cy="28575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" y="5669280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564184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A0A0A"/>
                </a:solidFill>
                <a:latin typeface="Geist"/>
              </a:rPr>
              <a:t>Mainnet with funded liquidity and multisig custody</a:t>
            </a:r>
            <a:endParaRPr sz="1350" b="0">
              <a:solidFill>
                <a:srgbClr val="0A0A0A"/>
              </a:solidFill>
              <a:latin typeface="Geis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70287" y="56601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 spc="120">
                <a:solidFill>
                  <a:srgbClr val="6B7280"/>
                </a:solidFill>
                <a:latin typeface="Geist Mono"/>
              </a:rPr>
              <a:t>NEXT</a:t>
            </a:r>
            <a:endParaRPr sz="1050" b="1" spc="120">
              <a:solidFill>
                <a:srgbClr val="6B7280"/>
              </a:solidFill>
              <a:latin typeface="Geist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57839" y="0"/>
            <a:ext cx="566928" cy="38404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Geist Mono"/>
              </a:rPr>
              <a:t>12</a:t>
            </a:r>
            <a:endParaRPr sz="1100" b="1">
              <a:solidFill>
                <a:srgbClr val="0A0A0A"/>
              </a:solidFill>
              <a:latin typeface="Geist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60">
                <a:solidFill>
                  <a:srgbClr val="F4623A"/>
                </a:solidFill>
                <a:latin typeface="Geist Mono"/>
              </a:rPr>
              <a:t>THE ASK</a:t>
            </a:r>
            <a:endParaRPr sz="1100" b="1" spc="16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FFFFFF"/>
                </a:solidFill>
                <a:latin typeface="Geist"/>
              </a:rPr>
              <a:t>Agents are about to need</a:t>
            </a:r>
            <a:endParaRPr sz="4200" b="1">
              <a:solidFill>
                <a:srgbClr val="FFFFFF"/>
              </a:solidFill>
              <a:latin typeface="Geist"/>
            </a:endParaRPr>
          </a:p>
          <a:p>
            <a:pPr algn="l">
              <a:lnSpc>
                <a:spcPct val="98000"/>
              </a:lnSpc>
            </a:pPr>
            <a:r>
              <a:rPr sz="4200" b="1">
                <a:solidFill>
                  <a:srgbClr val="FFFFFF"/>
                </a:solidFill>
                <a:latin typeface="Geist"/>
              </a:rPr>
              <a:t>a way to pay each other.</a:t>
            </a:r>
            <a:endParaRPr sz="4200" b="1">
              <a:solidFill>
                <a:srgbClr val="FFFFFF"/>
              </a:solidFill>
              <a:latin typeface="Geis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88036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C3CCD8"/>
                </a:solidFill>
                <a:latin typeface="Geist"/>
              </a:rPr>
              <a:t>Breeja is that rail — and it works for people too, through the same contracts.</a:t>
            </a:r>
            <a:endParaRPr sz="1700" b="0">
              <a:solidFill>
                <a:srgbClr val="C3CCD8"/>
              </a:solidFill>
              <a:latin typeface="Geis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3886200"/>
            <a:ext cx="3533546" cy="1371600"/>
          </a:xfrm>
          <a:prstGeom prst="rect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0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20">
                <a:solidFill>
                  <a:srgbClr val="F4623A"/>
                </a:solidFill>
                <a:latin typeface="Geist Mono"/>
              </a:rPr>
              <a:t>TRY IT</a:t>
            </a:r>
            <a:endParaRPr sz="1100" b="1" spc="12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4480560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Geist"/>
              </a:rPr>
              <a:t>Install the SDK and settle a cross-chain payment in one call.</a:t>
            </a:r>
            <a:endParaRPr sz="1300" b="0">
              <a:solidFill>
                <a:srgbClr val="FFFFFF"/>
              </a:solidFill>
              <a:latin typeface="Geis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9074" y="3886200"/>
            <a:ext cx="3533546" cy="1371600"/>
          </a:xfrm>
          <a:prstGeom prst="rect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6818" y="4114800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20">
                <a:solidFill>
                  <a:srgbClr val="F4623A"/>
                </a:solidFill>
                <a:latin typeface="Geist Mono"/>
              </a:rPr>
              <a:t>PLUG IN</a:t>
            </a:r>
            <a:endParaRPr sz="1100" b="1" spc="12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6818" y="4480560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Geist"/>
              </a:rPr>
              <a:t>Add the MCP server and let your agent pay across chains today.</a:t>
            </a:r>
            <a:endParaRPr sz="1300" b="0">
              <a:solidFill>
                <a:srgbClr val="FFFFFF"/>
              </a:solidFill>
              <a:latin typeface="Geis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91220" y="3886200"/>
            <a:ext cx="3533546" cy="1371600"/>
          </a:xfrm>
          <a:prstGeom prst="rect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8964" y="4114800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20">
                <a:solidFill>
                  <a:srgbClr val="F4623A"/>
                </a:solidFill>
                <a:latin typeface="Geist Mono"/>
              </a:rPr>
              <a:t>BUILD ON IT</a:t>
            </a:r>
            <a:endParaRPr sz="1100" b="1" spc="120">
              <a:solidFill>
                <a:srgbClr val="F4623A"/>
              </a:solidFill>
              <a:latin typeface="Geist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8964" y="4480560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Geist"/>
              </a:rPr>
              <a:t>Use Breeja as the settlement leg behind your own x402 endpoint.</a:t>
            </a:r>
            <a:endParaRPr sz="1300" b="0">
              <a:solidFill>
                <a:srgbClr val="FFFFFF"/>
              </a:solidFill>
              <a:latin typeface="Ge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5319</Words>
  <Application>WPS Presentation</Application>
  <PresentationFormat>On-screen Show (4:3)</PresentationFormat>
  <Paragraphs>379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Geist Mono</vt:lpstr>
      <vt:lpstr>Thonburi</vt:lpstr>
      <vt:lpstr>Geist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test ing</cp:lastModifiedBy>
  <cp:revision>2</cp:revision>
  <dcterms:created xsi:type="dcterms:W3CDTF">2026-09-07T18:28:38Z</dcterms:created>
  <dcterms:modified xsi:type="dcterms:W3CDTF">2026-09-07T18:28:38Z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1033-12.1.28492.28492</vt:lpwstr>
  </property>
  <property fmtid="{D5CDD505-2E9C-101B-9397-08002B2CF9AE}" pid="3" name="ICV">
    <vt:lpwstr>88F687B11F8B4D6056029F6A36942D8C_42</vt:lpwstr>
  </property>
</Properties>
</file>