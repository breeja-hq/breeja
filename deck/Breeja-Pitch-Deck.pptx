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612648" y="704088"/>
            <a:ext cx="457200" cy="4572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658368"/>
            <a:ext cx="457200" cy="457200"/>
          </a:xfrm>
          <a:prstGeom prst="rect">
            <a:avLst/>
          </a:prstGeom>
          <a:solidFill>
            <a:srgbClr val="F4623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0A0A0A"/>
                </a:solidFill>
                <a:latin typeface="Geist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75895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80">
                <a:solidFill>
                  <a:srgbClr val="0A0A0A"/>
                </a:solidFill>
                <a:latin typeface="Geist Mono"/>
              </a:rPr>
              <a:t>BREEJA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36192"/>
            <a:ext cx="8778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200" b="1">
                <a:solidFill>
                  <a:srgbClr val="0A0A0A"/>
                </a:solidFill>
                <a:latin typeface="Geist"/>
              </a:rPr>
              <a:t>Money that</a:t>
            </a:r>
          </a:p>
          <a:p>
            <a:pPr algn="l">
              <a:lnSpc>
                <a:spcPct val="90000"/>
              </a:lnSpc>
            </a:pPr>
            <a:r>
              <a:rPr sz="6200" b="1">
                <a:solidFill>
                  <a:srgbClr val="0A0A0A"/>
                </a:solidFill>
                <a:latin typeface="Geist"/>
              </a:rPr>
              <a:t>moves like</a:t>
            </a:r>
          </a:p>
          <a:p>
            <a:pPr algn="l">
              <a:lnSpc>
                <a:spcPct val="90000"/>
              </a:lnSpc>
            </a:pPr>
            <a:r>
              <a:rPr sz="6200" b="1">
                <a:solidFill>
                  <a:srgbClr val="0A0A0A"/>
                </a:solidFill>
                <a:latin typeface="Geist"/>
              </a:rPr>
              <a:t>an API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224528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A0A0A"/>
                </a:solidFill>
                <a:latin typeface="Geist"/>
              </a:rPr>
              <a:t>Cross-chain stablecoin settlement for agents and humans. Gasless, multi-route, one call.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5230368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5550408"/>
            <a:ext cx="2327148" cy="38404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504688"/>
            <a:ext cx="2327148" cy="3840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A0A0A"/>
                </a:solidFill>
                <a:latin typeface="Geist Mono"/>
              </a:rPr>
              <a:t>ETHGlobal Online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7812" y="5550408"/>
            <a:ext cx="1078992" cy="38404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22092" y="5504688"/>
            <a:ext cx="1078992" cy="3840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A0A0A"/>
                </a:solidFill>
                <a:latin typeface="Geist Mono"/>
              </a:rPr>
              <a:t>6 chains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4820" y="5550408"/>
            <a:ext cx="1847088" cy="38404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9100" y="5504688"/>
            <a:ext cx="1847088" cy="3840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0A0A0A"/>
                </a:solidFill>
                <a:latin typeface="Geist Mono"/>
              </a:rPr>
              <a:t>SDK · MCP · x402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Agents can think. They can't pay.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280"/>
                </a:solidFill>
                <a:latin typeface="Geist"/>
              </a:rPr>
              <a:t>An AI agent that owes another agent $5 for an API call has no way to settle it across chains. Neither does a person holding USDC on the wrong network.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11057839" cy="1042415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788920"/>
            <a:ext cx="566928" cy="1042415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Geist Mon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8176" y="29900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A0A0A"/>
                </a:solidFill>
                <a:latin typeface="Geist"/>
              </a:rPr>
              <a:t>Gas is a dead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331927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You need the native token of a chain you've never touched, before you can move the stablecoin you already hold.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831335"/>
            <a:ext cx="11057839" cy="1042415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3831335"/>
            <a:ext cx="566928" cy="1042415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Geist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4032503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A0A0A"/>
                </a:solidFill>
                <a:latin typeface="Geist"/>
              </a:rPr>
              <a:t>Bridges assume a browser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4361687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Connect wallet, approve, sign, wait. There is no programmatic path for software that has no hands.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73750"/>
            <a:ext cx="11057839" cy="1042415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873750"/>
            <a:ext cx="566928" cy="1042415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200" b="1">
                <a:solidFill>
                  <a:srgbClr val="FFFFFF"/>
                </a:solidFill>
                <a:latin typeface="Geist Mon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507491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A0A0A"/>
                </a:solidFill>
                <a:latin typeface="Geist"/>
              </a:rPr>
              <a:t>Bridges assume you pay yourself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540410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Most move funds between your own addresses. Paying someone else on another chain is a different product.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A settlement rail with four front doors.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280"/>
                </a:solidFill>
                <a:latin typeface="Geist"/>
              </a:rPr>
              <a:t>One signature. No gas. Funds land with anyone the payer names, on any supported chain.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97480"/>
            <a:ext cx="11057839" cy="1691640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280"/>
                </a:solidFill>
                <a:latin typeface="Geist Mono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A0A0A"/>
                </a:solidFill>
                <a:latin typeface="Geist"/>
              </a:rPr>
              <a:t>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Geist"/>
              </a:rPr>
              <a:t>Payer signs an EIP-3009 permit. A signature, not a transaction.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1387" y="2697480"/>
            <a:ext cx="28575" cy="16916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280"/>
                </a:solidFill>
                <a:latin typeface="Geist Mono"/>
              </a:rPr>
              <a:t>STEP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A0A0A"/>
                </a:solidFill>
                <a:latin typeface="Geist"/>
              </a:rPr>
              <a:t>Relay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Geist"/>
              </a:rPr>
              <a:t>Breeja submits the deposit on the source chain and pays the gas.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2697480"/>
            <a:ext cx="28575" cy="16916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5303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280"/>
                </a:solidFill>
                <a:latin typeface="Geist Mono"/>
              </a:rPr>
              <a:t>STEP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5303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A0A0A"/>
                </a:solidFill>
                <a:latin typeface="Geist"/>
              </a:rPr>
              <a:t>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5303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Geist"/>
              </a:rPr>
              <a:t>Router scores live gas, liquidity and preference, then picks a path.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0307" y="2697480"/>
            <a:ext cx="28575" cy="16916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763" y="2898648"/>
            <a:ext cx="232554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40">
                <a:solidFill>
                  <a:srgbClr val="6B7280"/>
                </a:solidFill>
                <a:latin typeface="Geist Mono"/>
              </a:rPr>
              <a:t>STEP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763" y="3200400"/>
            <a:ext cx="23255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A0A0A"/>
                </a:solidFill>
                <a:latin typeface="Geist"/>
              </a:rPr>
              <a:t>Settle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763" y="3566160"/>
            <a:ext cx="23255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Geist"/>
              </a:rPr>
              <a:t>Funds released to the named recipient on the destination chain.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" y="4745736"/>
            <a:ext cx="11057839" cy="5669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681728"/>
            <a:ext cx="11057839" cy="566928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400" b="1">
                <a:solidFill>
                  <a:srgbClr val="0A0A0A"/>
                </a:solidFill>
                <a:latin typeface="Geist Mono"/>
              </a:rPr>
              <a:t>Neither payer nor recipient ever holds a gas token.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SAME RAIL, FOUR CALLERS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Built for software first.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" y="2029968"/>
            <a:ext cx="5391759" cy="14813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65960"/>
            <a:ext cx="5391759" cy="148132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391759" cy="438912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F4623A"/>
                </a:solidFill>
                <a:latin typeface="Geist Mono"/>
              </a:rPr>
              <a:t>Human · Web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87752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Connect a wallet, pick chains, sign, watch it land live.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7015" y="2029968"/>
            <a:ext cx="5391759" cy="14813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965960"/>
            <a:ext cx="5391759" cy="148132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965960"/>
            <a:ext cx="5391759" cy="438912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F4623A"/>
                </a:solidFill>
                <a:latin typeface="Geist Mono"/>
              </a:rPr>
              <a:t>Agent · 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4175" y="2587752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One call, no browser, no gas.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34175" y="2935224"/>
            <a:ext cx="4989423" cy="32918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A0A0A"/>
                </a:solidFill>
                <a:latin typeface="Geist Mono"/>
              </a:rPr>
              <a:t>await breeja.pay({ … })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" y="3785616"/>
            <a:ext cx="5391759" cy="14813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721608"/>
            <a:ext cx="5391759" cy="148132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21608"/>
            <a:ext cx="5391759" cy="438912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F4623A"/>
                </a:solidFill>
                <a:latin typeface="Geist Mono"/>
              </a:rPr>
              <a:t>Agent · 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343400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Claude pays across chains as a tool call, with spend caps enforced.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97015" y="3785616"/>
            <a:ext cx="5391759" cy="14813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3721608"/>
            <a:ext cx="5391759" cy="148132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3721608"/>
            <a:ext cx="5391759" cy="438912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F4623A"/>
                </a:solidFill>
                <a:latin typeface="Geist Mono"/>
              </a:rPr>
              <a:t>Agent · x402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34175" y="4343400"/>
            <a:ext cx="498942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Hit a paywalled endpoint, settle, retry with proof. Cross-chain.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All four consume the same SDK. The SDK is the product — the web app is just one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DEVELOPER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The whole integration.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" y="1911096"/>
            <a:ext cx="6766560" cy="2606040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6766560" cy="2606040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66543"/>
            <a:ext cx="6254496" cy="2194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300" b="1">
                <a:solidFill>
                  <a:srgbClr val="F4623A"/>
                </a:solidFill>
                <a:latin typeface="Geist Mono"/>
              </a:rPr>
              <a:t>import </a:t>
            </a:r>
            <a:r>
              <a:rPr sz="1300" b="1">
                <a:solidFill>
                  <a:srgbClr val="FFFFFF"/>
                </a:solidFill>
                <a:latin typeface="Geist Mono"/>
              </a:rPr>
              <a:t>{ Breeja } </a:t>
            </a:r>
            <a:r>
              <a:rPr sz="1300" b="1">
                <a:solidFill>
                  <a:srgbClr val="F4623A"/>
                </a:solidFill>
                <a:latin typeface="Geist Mono"/>
              </a:rPr>
              <a:t>from </a:t>
            </a:r>
            <a:r>
              <a:rPr sz="1300" b="1">
                <a:solidFill>
                  <a:srgbClr val="F4623A"/>
                </a:solidFill>
                <a:latin typeface="Geist Mono"/>
              </a:rPr>
              <a:t>"@breeja/sdk";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/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4623A"/>
                </a:solidFill>
                <a:latin typeface="Geist Mono"/>
              </a:rPr>
              <a:t>const </a:t>
            </a:r>
            <a:r>
              <a:rPr sz="1300" b="1">
                <a:solidFill>
                  <a:srgbClr val="FFFFFF"/>
                </a:solidFill>
                <a:latin typeface="Geist Mono"/>
              </a:rPr>
              <a:t>payment = </a:t>
            </a:r>
            <a:r>
              <a:rPr sz="1300" b="1">
                <a:solidFill>
                  <a:srgbClr val="F4623A"/>
                </a:solidFill>
                <a:latin typeface="Geist Mono"/>
              </a:rPr>
              <a:t>await </a:t>
            </a:r>
            <a:r>
              <a:rPr sz="1300" b="1">
                <a:solidFill>
                  <a:srgbClr val="FFFFFF"/>
                </a:solidFill>
                <a:latin typeface="Geist Mono"/>
              </a:rPr>
              <a:t>breeja.</a:t>
            </a:r>
            <a:r>
              <a:rPr sz="1300" b="1">
                <a:solidFill>
                  <a:srgbClr val="F4623A"/>
                </a:solidFill>
                <a:latin typeface="Geist Mono"/>
              </a:rPr>
              <a:t>pay</a:t>
            </a:r>
            <a:r>
              <a:rPr sz="1300" b="1">
                <a:solidFill>
                  <a:srgbClr val="FFFFFF"/>
                </a:solidFill>
                <a:latin typeface="Geist Mono"/>
              </a:rPr>
              <a:t>({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>  from:      </a:t>
            </a:r>
            <a:r>
              <a:rPr sz="1300" b="1">
                <a:solidFill>
                  <a:srgbClr val="F4623A"/>
                </a:solidFill>
                <a:latin typeface="Geist Mono"/>
              </a:rPr>
              <a:t>"base-sepolia",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>  to:        </a:t>
            </a:r>
            <a:r>
              <a:rPr sz="1300" b="1">
                <a:solidFill>
                  <a:srgbClr val="F4623A"/>
                </a:solidFill>
                <a:latin typeface="Geist Mono"/>
              </a:rPr>
              <a:t>"arbitrum-sepolia",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>  amount:    </a:t>
            </a:r>
            <a:r>
              <a:rPr sz="1300" b="1">
                <a:solidFill>
                  <a:srgbClr val="F4623A"/>
                </a:solidFill>
                <a:latin typeface="Geist Mono"/>
              </a:rPr>
              <a:t>"10.00",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>  recipient: </a:t>
            </a:r>
            <a:r>
              <a:rPr sz="1300" b="1">
                <a:solidFill>
                  <a:srgbClr val="F4623A"/>
                </a:solidFill>
                <a:latin typeface="Geist Mono"/>
              </a:rPr>
              <a:t>"alice.eth",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>  signer:    account,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>});</a:t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FFFFFF"/>
                </a:solidFill>
                <a:latin typeface="Geist Mono"/>
              </a:rPr>
              <a:t/>
            </a:r>
          </a:p>
          <a:p>
            <a:pPr>
              <a:lnSpc>
                <a:spcPct val="132000"/>
              </a:lnSpc>
            </a:pPr>
            <a:r>
              <a:rPr sz="1300" b="1">
                <a:solidFill>
                  <a:srgbClr val="8FA3BF"/>
                </a:solidFill>
                <a:latin typeface="Geist Mono"/>
              </a:rPr>
              <a:t>// → settled in seconds, no gas token held</a:t>
            </a:r>
          </a:p>
        </p:txBody>
      </p:sp>
      <p:sp>
        <p:nvSpPr>
          <p:cNvPr id="9" name="Rectangle 8"/>
          <p:cNvSpPr/>
          <p:nvPr/>
        </p:nvSpPr>
        <p:spPr>
          <a:xfrm>
            <a:off x="7644384" y="1847088"/>
            <a:ext cx="3980383" cy="78638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44384" y="1847088"/>
            <a:ext cx="3980383" cy="91440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27264" y="2048256"/>
            <a:ext cx="36146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Geist"/>
              </a:rPr>
              <a:t>Runtime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2304288"/>
            <a:ext cx="36146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"/>
              </a:rPr>
              <a:t>Agents call chains() — never a hardcoded list.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44384" y="2761488"/>
            <a:ext cx="3980383" cy="78638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44384" y="2761488"/>
            <a:ext cx="3980383" cy="91440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27264" y="2962656"/>
            <a:ext cx="36146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Geist"/>
              </a:rPr>
              <a:t>Typed errors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3218688"/>
            <a:ext cx="36146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"/>
              </a:rPr>
              <a:t>Stable codes an agent can branch on exhaustively.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44384" y="3675888"/>
            <a:ext cx="3980383" cy="78638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4384" y="3675888"/>
            <a:ext cx="3980383" cy="91440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27264" y="3877056"/>
            <a:ext cx="36146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Geist"/>
              </a:rPr>
              <a:t>Idempotent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4133088"/>
            <a:ext cx="36146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"/>
              </a:rPr>
              <a:t>Keyed on the permit nonce. Retries never double-spend.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A real choice, not a single path.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280"/>
                </a:solidFill>
                <a:latin typeface="Geist"/>
              </a:rPr>
              <a:t>Every payment is quoted across routes and scored on live gas, pool liquidity, and caller preference.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97480"/>
            <a:ext cx="2103120" cy="512064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FFFFF"/>
                </a:solidFill>
                <a:latin typeface="Geist Mono"/>
              </a:rPr>
              <a:t>Route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70048" y="2697480"/>
            <a:ext cx="1463040" cy="512064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FFFFF"/>
                </a:solidFill>
                <a:latin typeface="Geist Mono"/>
              </a:rPr>
              <a:t>Latency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8" y="2697480"/>
            <a:ext cx="1463040" cy="512064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FFFFF"/>
                </a:solidFill>
                <a:latin typeface="Geist Mono"/>
              </a:rPr>
              <a:t>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2697480"/>
            <a:ext cx="2286000" cy="512064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FFFFF"/>
                </a:solidFill>
                <a:latin typeface="Geist Mono"/>
              </a:rPr>
              <a:t>Custody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2697480"/>
            <a:ext cx="3739896" cy="512064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00">
                <a:solidFill>
                  <a:srgbClr val="FFFFFF"/>
                </a:solidFill>
                <a:latin typeface="Geist Mono"/>
              </a:rPr>
              <a:t>Best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09544"/>
            <a:ext cx="210312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A0A0A"/>
                </a:solidFill>
                <a:latin typeface="Geist"/>
              </a:rPr>
              <a:t>Fast pool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3209544"/>
            <a:ext cx="146304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0A0A0A"/>
                </a:solidFill>
                <a:latin typeface="Geist Mono"/>
              </a:rPr>
              <a:t>~10s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8" y="3209544"/>
            <a:ext cx="146304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0A0A0A"/>
                </a:solidFill>
                <a:latin typeface="Geist Mono"/>
              </a:rPr>
              <a:t>0.5%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3209544"/>
            <a:ext cx="228600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3364992"/>
            <a:ext cx="943660" cy="292608"/>
          </a:xfrm>
          <a:prstGeom prst="rect">
            <a:avLst/>
          </a:prstGeom>
          <a:solidFill>
            <a:srgbClr val="6B7280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Geist Mono"/>
              </a:rPr>
              <a:t>Custodial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209544"/>
            <a:ext cx="3739896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0A0A0A"/>
                </a:solidFill>
                <a:latin typeface="Geist"/>
              </a:rPr>
              <a:t>Small, latency-sensitive payments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13048"/>
            <a:ext cx="210312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A0A0A"/>
                </a:solidFill>
                <a:latin typeface="Geist"/>
              </a:rPr>
              <a:t>CCTP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0048" y="3813048"/>
            <a:ext cx="146304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0A0A0A"/>
                </a:solidFill>
                <a:latin typeface="Geist Mono"/>
              </a:rPr>
              <a:t>~15m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33088" y="3813048"/>
            <a:ext cx="146304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0A0A0A"/>
                </a:solidFill>
                <a:latin typeface="Geist Mono"/>
              </a:rPr>
              <a:t>gas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96128" y="3813048"/>
            <a:ext cx="2286000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42432" y="3968496"/>
            <a:ext cx="1426463" cy="292608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73152" bIns="73152"/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4623A"/>
                </a:solidFill>
                <a:latin typeface="Geist Mono"/>
              </a:rPr>
              <a:t>Trust-minimized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82128" y="3813048"/>
            <a:ext cx="3739896" cy="60350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0A0A0A"/>
                </a:solidFill>
                <a:latin typeface="Geist"/>
              </a:rPr>
              <a:t>Large transfers, canonical guarantees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6177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Callers override with preference: "fast" | "cheap" | "trustless". Custody risk scales with amount; latency tolerance doesn't.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THE AI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Models explain. They never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6B7280"/>
                </a:solidFill>
                <a:latin typeface="Geist"/>
              </a:rPr>
              <a:t>The boundary is enforced in code, and it's why the system is auditable.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06040"/>
            <a:ext cx="11057839" cy="17556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606040"/>
            <a:ext cx="3685946" cy="438912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0A0A0A"/>
                </a:solidFill>
                <a:latin typeface="Geist Mono"/>
              </a:rPr>
              <a:t>LLM permitted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44952"/>
            <a:ext cx="3685946" cy="4389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Geist"/>
              </a:rPr>
              <a:t>Parse natural-language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483864"/>
            <a:ext cx="3685946" cy="4389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Geist"/>
              </a:rPr>
              <a:t>Explain a completed decision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2874" y="2606040"/>
            <a:ext cx="3685946" cy="438912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FFFFFF"/>
                </a:solidFill>
                <a:latin typeface="Geist Mono"/>
              </a:rPr>
              <a:t>Deterministic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2874" y="3044952"/>
            <a:ext cx="3685946" cy="4389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Geist"/>
              </a:rPr>
              <a:t>Validate the request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2874" y="3483864"/>
            <a:ext cx="3685946" cy="4389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Geist"/>
              </a:rPr>
              <a:t>Select the route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2874" y="3922776"/>
            <a:ext cx="3685946" cy="4389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Geist"/>
              </a:rPr>
              <a:t>Compute the fee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2874" y="2606040"/>
            <a:ext cx="28575" cy="175564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38820" y="2606040"/>
            <a:ext cx="3685946" cy="438912"/>
          </a:xfrm>
          <a:prstGeom prst="rect">
            <a:avLst/>
          </a:prstGeom>
          <a:solidFill>
            <a:srgbClr val="6B7280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100" b="1" spc="120">
                <a:solidFill>
                  <a:srgbClr val="FFFFFF"/>
                </a:solidFill>
                <a:latin typeface="Geist Mono"/>
              </a:rPr>
              <a:t>LLM forbidden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8820" y="3044952"/>
            <a:ext cx="3685946" cy="4389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Geist"/>
              </a:rPr>
              <a:t>Choosing where money goes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8820" y="3483864"/>
            <a:ext cx="3685946" cy="4389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73152" bIns="73152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A0A0A"/>
                </a:solidFill>
                <a:latin typeface="Geist"/>
              </a:rPr>
              <a:t>Authorizing a release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38820" y="2606040"/>
            <a:ext cx="28575" cy="175564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" y="4773168"/>
            <a:ext cx="11057839" cy="84124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709160"/>
            <a:ext cx="11057839" cy="841248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73152" bIns="73152"/>
          <a:lstStyle/>
          <a:p>
            <a:pPr algn="l">
              <a:lnSpc>
                <a:spcPct val="130000"/>
              </a:lnSpc>
            </a:pPr>
            <a:r>
              <a:rPr sz="1350" b="1">
                <a:solidFill>
                  <a:srgbClr val="0A0A0A"/>
                </a:solidFill>
                <a:latin typeface="Geist"/>
              </a:rPr>
              <a:t>Every number in a generated explanation is validated against the decision object. Mismatch falls back to a template — a model never states a fee the system didn't compute.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>
                <a:solidFill>
                  <a:srgbClr val="0A0A0A"/>
                </a:solidFill>
                <a:latin typeface="Geist"/>
              </a:rPr>
              <a:t>Every chain is both a source and a destination.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" y="2167128"/>
            <a:ext cx="3551834" cy="1298448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3551834" cy="12984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30428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A0A0A"/>
                </a:solidFill>
                <a:latin typeface="Geist"/>
              </a:rPr>
              <a:t>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7004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 Mono"/>
              </a:rPr>
              <a:t>Sepolia · 84532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0A0A0A"/>
                </a:solidFill>
                <a:latin typeface="Geist Mono"/>
              </a:rPr>
              <a:t>Fast pool · CCTP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3938" y="2167128"/>
            <a:ext cx="3551834" cy="1298448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9930" y="2103120"/>
            <a:ext cx="3551834" cy="12984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9386" y="230428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A0A0A"/>
                </a:solidFill>
                <a:latin typeface="Geist"/>
              </a:rPr>
              <a:t>Arbitrum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9386" y="267004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 Mono"/>
              </a:rPr>
              <a:t>Sepolia · 421614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386" y="298094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0A0A0A"/>
                </a:solidFill>
                <a:latin typeface="Geist Mono"/>
              </a:rPr>
              <a:t>Fast pool · CCTP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6940" y="2167128"/>
            <a:ext cx="3551834" cy="1298448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932" y="2103120"/>
            <a:ext cx="3551834" cy="12984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2388" y="230428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A0A0A"/>
                </a:solidFill>
                <a:latin typeface="Geist"/>
              </a:rPr>
              <a:t>Optimism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2388" y="267004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 Mono"/>
              </a:rPr>
              <a:t>Sepolia · 11155420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98094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0A0A0A"/>
                </a:solidFill>
                <a:latin typeface="Geist Mono"/>
              </a:rPr>
              <a:t>Fast pool · CCTP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" y="3721608"/>
            <a:ext cx="3551834" cy="1298448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657600"/>
            <a:ext cx="3551834" cy="12984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85876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A0A0A"/>
                </a:solidFill>
                <a:latin typeface="Geist"/>
              </a:rPr>
              <a:t>Arc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22452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 Mono"/>
              </a:rPr>
              <a:t>Circle's L1 · native USDC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53542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0A0A0A"/>
                </a:solidFill>
                <a:latin typeface="Geist Mono"/>
              </a:rPr>
              <a:t>Fast pool · CCTP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3938" y="3721608"/>
            <a:ext cx="3551834" cy="1298448"/>
          </a:xfrm>
          <a:prstGeom prst="rect">
            <a:avLst/>
          </a:prstGeom>
          <a:solidFill>
            <a:srgbClr val="F46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9930" y="3657600"/>
            <a:ext cx="3551834" cy="12984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9386" y="385876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A0A0A"/>
                </a:solidFill>
                <a:latin typeface="Geist"/>
              </a:rPr>
              <a:t>Hedera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9386" y="422452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 Mono"/>
              </a:rPr>
              <a:t>Testnet · 296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9386" y="453542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0A0A0A"/>
                </a:solidFill>
                <a:latin typeface="Geist Mono"/>
              </a:rPr>
              <a:t>Fast pool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6940" y="3721608"/>
            <a:ext cx="3551834" cy="129844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2932" y="3657600"/>
            <a:ext cx="3551834" cy="12984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2388" y="3858768"/>
            <a:ext cx="311292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A0A0A"/>
                </a:solidFill>
                <a:latin typeface="Geist"/>
              </a:rPr>
              <a:t>Ethereum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92388" y="4224528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7280"/>
                </a:solidFill>
                <a:latin typeface="Geist Mono"/>
              </a:rPr>
              <a:t>Sepolia · 11155111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535424"/>
            <a:ext cx="311292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60">
                <a:solidFill>
                  <a:srgbClr val="0A0A0A"/>
                </a:solidFill>
                <a:latin typeface="Geist Mono"/>
              </a:rPr>
              <a:t>Source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4406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A payment is a directed edge between any two. Not a hub-and-spoke bridge.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TRUST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Stated plainly, not buried.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65960"/>
            <a:ext cx="11057839" cy="2331720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847" y="1965960"/>
            <a:ext cx="28575" cy="233172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03704"/>
            <a:ext cx="498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0A0A0A"/>
                </a:solidFill>
                <a:latin typeface="Geist Mono"/>
              </a:rPr>
              <a:t>WHAT WE MITIGATE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87752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A0A0A"/>
                </a:solidFill>
                <a:latin typeface="Geist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87752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Geist"/>
              </a:rPr>
              <a:t>CCTP offered as a trust-minimized alternative for the same payment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A0A0A"/>
                </a:solidFill>
                <a:latin typeface="Geist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008376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Geist"/>
              </a:rPr>
              <a:t>Pool ownership held by a Safe multisig, not a single EOA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429000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A0A0A"/>
                </a:solidFill>
                <a:latin typeface="Geist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29000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Geist"/>
              </a:rPr>
              <a:t>Release authority is Ledger-backed, not a hot server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849624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A0A0A"/>
                </a:solidFill>
                <a:latin typeface="Geist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3849624"/>
            <a:ext cx="468767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Geist"/>
              </a:rPr>
              <a:t>State is durable and reconciled from chain events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6743" y="2203704"/>
            <a:ext cx="494370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0A0A0A"/>
                </a:solidFill>
                <a:latin typeface="Geist Mono"/>
              </a:rPr>
              <a:t>WHAT WE DON'T CLAIM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587752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A0A0A"/>
                </a:solidFill>
                <a:latin typeface="Geist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4487" y="2587752"/>
            <a:ext cx="466938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Geist"/>
              </a:rPr>
              <a:t>The fast-pool route is custodial — the relayer controls liquidity and decides when to release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6743" y="3300984"/>
            <a:ext cx="146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A0A0A"/>
                </a:solidFill>
                <a:latin typeface="Geist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4487" y="3300984"/>
            <a:ext cx="466938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Geist"/>
              </a:rPr>
              <a:t>Release is not decentralized. A bonded watcher network is the next real trust reduction, and it is not in this build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681728"/>
            <a:ext cx="11057839" cy="65836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4617720"/>
            <a:ext cx="11057839" cy="658368"/>
          </a:xfrm>
          <a:prstGeom prst="rect">
            <a:avLst/>
          </a:prstGeom>
          <a:solidFill>
            <a:srgbClr val="FDEDE7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73152" bIns="73152"/>
          <a:lstStyle/>
          <a:p>
            <a:pPr algn="ctr">
              <a:lnSpc>
                <a:spcPct val="130000"/>
              </a:lnSpc>
            </a:pPr>
            <a:r>
              <a:rPr sz="1400" b="1">
                <a:solidFill>
                  <a:srgbClr val="0A0A0A"/>
                </a:solidFill>
                <a:latin typeface="Geist"/>
              </a:rPr>
              <a:t>Same tradeoff early Across and Hop shipped — and the honest reason the fast route is fast.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Each one load-bearing.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65960"/>
            <a:ext cx="11057839" cy="2340864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Circle / Arc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CCTP settlement route + native USDC chain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1387" y="1965960"/>
            <a:ext cx="28575" cy="2340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2555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The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2555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Indexed payment history across every chain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965960"/>
            <a:ext cx="28575" cy="2340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7015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Privy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7015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Embedded wallets and agent server wallets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0307" y="1965960"/>
            <a:ext cx="28575" cy="2340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475" y="2185416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1475" y="2532888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Agent identity — pay a name, not a hex string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136392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Hardware-backed release authority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1387" y="1965960"/>
            <a:ext cx="28575" cy="2340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2555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Hedera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2555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Source and destination chain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5847" y="1965960"/>
            <a:ext cx="28575" cy="2340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7015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Bazantic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7015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Agent-ready SDK and MCP tooling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0307" y="1965960"/>
            <a:ext cx="28575" cy="2340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61475" y="3355848"/>
            <a:ext cx="23621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A0A0A"/>
                </a:solidFill>
                <a:latin typeface="Geist"/>
              </a:rPr>
              <a:t>World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61475" y="3703320"/>
            <a:ext cx="236212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Geist"/>
              </a:rPr>
              <a:t>Verified human authorizes an agent's spend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280"/>
                </a:solidFill>
                <a:latin typeface="Geist"/>
              </a:rPr>
              <a:t>Deliberately skipped: AMM and DeFi-position tracks. A swap bolted onto a payment rail is the integration judges see through.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0A0A0A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Geist Mono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6B7280"/>
                </a:solidFill>
                <a:latin typeface="Geist Mono"/>
              </a:rPr>
              <a:t>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85953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>
                <a:solidFill>
                  <a:srgbClr val="0A0A0A"/>
                </a:solidFill>
                <a:latin typeface="Geist"/>
              </a:rPr>
              <a:t>Shipped, in flight,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920240"/>
            <a:ext cx="11057839" cy="4096512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2084832"/>
            <a:ext cx="182880" cy="182880"/>
          </a:xfrm>
          <a:prstGeom prst="rect">
            <a:avLst/>
          </a:prstGeom>
          <a:solidFill>
            <a:srgbClr val="0A0A0A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05740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EIP-3009 gasless permits, live on real testnets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70287" y="20756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SHIPPED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2304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2596896"/>
            <a:ext cx="182880" cy="182880"/>
          </a:xfrm>
          <a:prstGeom prst="rect">
            <a:avLst/>
          </a:prstGeom>
          <a:solidFill>
            <a:srgbClr val="0A0A0A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569464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Contracts covered by tests, deployed and verified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0287" y="25877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SHIPPED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944368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" y="3108960"/>
            <a:ext cx="182880" cy="182880"/>
          </a:xfrm>
          <a:prstGeom prst="rect">
            <a:avLst/>
          </a:prstGeom>
          <a:solidFill>
            <a:srgbClr val="0A0A0A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308152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Agent-to-agent payment, no browser in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70287" y="309981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SHIPPED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456432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3621024"/>
            <a:ext cx="182880" cy="182880"/>
          </a:xfrm>
          <a:prstGeom prst="rect">
            <a:avLst/>
          </a:prstGeom>
          <a:solidFill>
            <a:srgbClr val="F4623A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70432" y="359359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Durable state, idempotency, reconciliation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0287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IN FLIGHT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68496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" y="4133088"/>
            <a:ext cx="182880" cy="182880"/>
          </a:xfrm>
          <a:prstGeom prst="rect">
            <a:avLst/>
          </a:prstGeom>
          <a:solidFill>
            <a:srgbClr val="F4623A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105656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Multi-chain mesh + CCTP route scoring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70287" y="412394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IN FLIGHT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480560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4645152"/>
            <a:ext cx="182880" cy="182880"/>
          </a:xfrm>
          <a:prstGeom prst="rect">
            <a:avLst/>
          </a:prstGeom>
          <a:solidFill>
            <a:srgbClr val="F4623A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461772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SDK, MCP server, x402 demo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0287" y="4636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IN FLIGHT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992624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" y="515721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0432" y="5129784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Bonded watcher network — decentralized release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70287" y="51480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NEXT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04688"/>
            <a:ext cx="11057839" cy="28575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" y="566928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0432" y="564184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A0A0A"/>
                </a:solidFill>
                <a:latin typeface="Geist"/>
              </a:rPr>
              <a:t>Mainnet with funded liquidity and multisig custody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0287" y="56601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1" spc="120">
                <a:solidFill>
                  <a:srgbClr val="6B7280"/>
                </a:solidFill>
                <a:latin typeface="Geist Mono"/>
              </a:rPr>
              <a:t>NEXT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057839" y="0"/>
            <a:ext cx="566928" cy="384048"/>
          </a:xfrm>
          <a:prstGeom prst="rect">
            <a:avLst/>
          </a:prstGeom>
          <a:solidFill>
            <a:srgbClr val="FFFFFF"/>
          </a:solidFill>
          <a:ln w="28575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A0A0A"/>
                </a:solidFill>
                <a:latin typeface="Geist Mono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60">
                <a:solidFill>
                  <a:srgbClr val="F4623A"/>
                </a:solidFill>
                <a:latin typeface="Geist Mono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5156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200" b="1">
                <a:solidFill>
                  <a:srgbClr val="FFFFFF"/>
                </a:solidFill>
                <a:latin typeface="Geist"/>
              </a:rPr>
              <a:t>Agents are about to need</a:t>
            </a:r>
          </a:p>
          <a:p>
            <a:pPr algn="l">
              <a:lnSpc>
                <a:spcPct val="98000"/>
              </a:lnSpc>
            </a:pPr>
            <a:r>
              <a:rPr sz="4200" b="1">
                <a:solidFill>
                  <a:srgbClr val="FFFFFF"/>
                </a:solidFill>
                <a:latin typeface="Geist"/>
              </a:rPr>
              <a:t>a way to pay each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88036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C3CCD8"/>
                </a:solidFill>
                <a:latin typeface="Geist"/>
              </a:rPr>
              <a:t>Breeja is that rail — and it works for people too, through the same contracts.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3533546" cy="1371600"/>
          </a:xfrm>
          <a:prstGeom prst="rect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11480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F4623A"/>
                </a:solidFill>
                <a:latin typeface="Geist Mono"/>
              </a:rPr>
              <a:t>TRY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480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FFFF"/>
                </a:solidFill>
                <a:latin typeface="Geist"/>
              </a:rPr>
              <a:t>Install the SDK and settle a cross-chain payment in one call.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9074" y="3886200"/>
            <a:ext cx="3533546" cy="1371600"/>
          </a:xfrm>
          <a:prstGeom prst="rect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6818" y="411480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F4623A"/>
                </a:solidFill>
                <a:latin typeface="Geist Mono"/>
              </a:rPr>
              <a:t>PLUG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6818" y="4480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FFFF"/>
                </a:solidFill>
                <a:latin typeface="Geist"/>
              </a:rPr>
              <a:t>Add the MCP server and let your agent pay across chains today.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1220" y="3886200"/>
            <a:ext cx="3533546" cy="1371600"/>
          </a:xfrm>
          <a:prstGeom prst="rect">
            <a:avLst/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8964" y="4114800"/>
            <a:ext cx="30580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spc="120">
                <a:solidFill>
                  <a:srgbClr val="F4623A"/>
                </a:solidFill>
                <a:latin typeface="Geist Mono"/>
              </a:rPr>
              <a:t>BUILD ON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8964" y="4480560"/>
            <a:ext cx="30580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FFFF"/>
                </a:solidFill>
                <a:latin typeface="Geist"/>
              </a:rPr>
              <a:t>Use Breeja as the settlement leg behind your own x402 endpoint.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